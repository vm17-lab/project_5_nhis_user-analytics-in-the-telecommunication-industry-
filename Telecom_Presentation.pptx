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310944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3258484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145081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3039472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191718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22328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335326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71732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2929210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672905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7348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2545337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03095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246095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2875741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19A959-8488-4358-9FE2-75BC9643FE40}" type="datetimeFigureOut">
              <a:rPr lang="en-IN" smtClean="0"/>
              <a:t>08-07-2026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A0E77EA-D5D5-42E7-B070-8A9250F78B58}" type="slidenum">
              <a:rPr lang="en-IN" smtClean="0"/>
              <a:t>‹#›</a:t>
            </a:fld>
            <a:endParaRPr lang="en-IN" dirty="0"/>
          </a:p>
        </p:txBody>
      </p:sp>
    </p:spTree>
    <p:extLst>
      <p:ext uri="{BB962C8B-B14F-4D97-AF65-F5344CB8AC3E}">
        <p14:creationId xmlns:p14="http://schemas.microsoft.com/office/powerpoint/2010/main" val="521670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19A959-8488-4358-9FE2-75BC9643FE40}" type="datetimeFigureOut">
              <a:rPr lang="en-IN" smtClean="0"/>
              <a:t>08-07-2026</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5A0E77EA-D5D5-42E7-B070-8A9250F78B58}" type="slidenum">
              <a:rPr lang="en-IN" smtClean="0"/>
              <a:t>‹#›</a:t>
            </a:fld>
            <a:endParaRPr lang="en-IN" dirty="0"/>
          </a:p>
        </p:txBody>
      </p:sp>
    </p:spTree>
    <p:extLst>
      <p:ext uri="{BB962C8B-B14F-4D97-AF65-F5344CB8AC3E}">
        <p14:creationId xmlns:p14="http://schemas.microsoft.com/office/powerpoint/2010/main" val="47656038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C426-0901-176D-C7A0-53C083DF9AA0}"/>
              </a:ext>
            </a:extLst>
          </p:cNvPr>
          <p:cNvSpPr>
            <a:spLocks noGrp="1"/>
          </p:cNvSpPr>
          <p:nvPr>
            <p:ph type="ctrTitle"/>
          </p:nvPr>
        </p:nvSpPr>
        <p:spPr/>
        <p:txBody>
          <a:bodyPr/>
          <a:lstStyle/>
          <a:p>
            <a:r>
              <a:rPr lang="en-US" dirty="0"/>
              <a:t>Next Hikes IT Solutions</a:t>
            </a:r>
            <a:endParaRPr lang="en-IN" dirty="0"/>
          </a:p>
        </p:txBody>
      </p:sp>
      <p:sp>
        <p:nvSpPr>
          <p:cNvPr id="3" name="Subtitle 2">
            <a:extLst>
              <a:ext uri="{FF2B5EF4-FFF2-40B4-BE49-F238E27FC236}">
                <a16:creationId xmlns:a16="http://schemas.microsoft.com/office/drawing/2014/main" id="{E5185BBF-5332-6773-FE76-B57095C5716A}"/>
              </a:ext>
            </a:extLst>
          </p:cNvPr>
          <p:cNvSpPr>
            <a:spLocks noGrp="1"/>
          </p:cNvSpPr>
          <p:nvPr>
            <p:ph type="subTitle" idx="1"/>
          </p:nvPr>
        </p:nvSpPr>
        <p:spPr/>
        <p:txBody>
          <a:bodyPr>
            <a:normAutofit/>
          </a:bodyPr>
          <a:lstStyle/>
          <a:p>
            <a:pPr algn="ctr"/>
            <a:r>
              <a:rPr lang="en-US" sz="2000" dirty="0">
                <a:solidFill>
                  <a:schemeClr val="tx1">
                    <a:lumMod val="95000"/>
                    <a:lumOff val="5000"/>
                  </a:schemeClr>
                </a:solidFill>
              </a:rPr>
              <a:t>Vincy Mehta</a:t>
            </a:r>
          </a:p>
          <a:p>
            <a:pPr algn="ctr"/>
            <a:r>
              <a:rPr lang="en-IN" sz="2000" dirty="0">
                <a:solidFill>
                  <a:schemeClr val="tx1">
                    <a:lumMod val="95000"/>
                    <a:lumOff val="5000"/>
                  </a:schemeClr>
                </a:solidFill>
              </a:rPr>
              <a:t>User Analytics in the Telecommunication Industry</a:t>
            </a:r>
          </a:p>
        </p:txBody>
      </p:sp>
    </p:spTree>
    <p:extLst>
      <p:ext uri="{BB962C8B-B14F-4D97-AF65-F5344CB8AC3E}">
        <p14:creationId xmlns:p14="http://schemas.microsoft.com/office/powerpoint/2010/main" val="38421750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08B989-9035-02B7-B1AC-CF9BCAB94997}"/>
              </a:ext>
            </a:extLst>
          </p:cNvPr>
          <p:cNvPicPr>
            <a:picLocks noChangeAspect="1"/>
          </p:cNvPicPr>
          <p:nvPr/>
        </p:nvPicPr>
        <p:blipFill>
          <a:blip r:embed="rId2"/>
          <a:stretch>
            <a:fillRect/>
          </a:stretch>
        </p:blipFill>
        <p:spPr>
          <a:xfrm>
            <a:off x="199697" y="644847"/>
            <a:ext cx="4947505" cy="5691414"/>
          </a:xfrm>
          <a:prstGeom prst="rect">
            <a:avLst/>
          </a:prstGeom>
        </p:spPr>
      </p:pic>
      <p:sp>
        <p:nvSpPr>
          <p:cNvPr id="9" name="TextBox 8">
            <a:extLst>
              <a:ext uri="{FF2B5EF4-FFF2-40B4-BE49-F238E27FC236}">
                <a16:creationId xmlns:a16="http://schemas.microsoft.com/office/drawing/2014/main" id="{6E19EA6B-24A1-A88D-B74E-C9D11884EE84}"/>
              </a:ext>
            </a:extLst>
          </p:cNvPr>
          <p:cNvSpPr txBox="1"/>
          <p:nvPr/>
        </p:nvSpPr>
        <p:spPr>
          <a:xfrm>
            <a:off x="5457498" y="505121"/>
            <a:ext cx="6166943" cy="5970865"/>
          </a:xfrm>
          <a:prstGeom prst="rect">
            <a:avLst/>
          </a:prstGeom>
          <a:noFill/>
        </p:spPr>
        <p:txBody>
          <a:bodyPr wrap="square">
            <a:spAutoFit/>
          </a:bodyPr>
          <a:lstStyle/>
          <a:p>
            <a:pPr marL="285750" indent="-285750">
              <a:buFont typeface="Wingdings" panose="05000000000000000000" pitchFamily="2" charset="2"/>
              <a:buChar char="q"/>
            </a:pPr>
            <a:r>
              <a:rPr lang="en-IN" sz="2000" b="1" dirty="0">
                <a:latin typeface="Arial" panose="020B0604020202020204" pitchFamily="34" charset="0"/>
                <a:cs typeface="Arial" panose="020B0604020202020204" pitchFamily="34" charset="0"/>
              </a:rPr>
              <a:t>Here are the key insights from the chart, which shows how much data is missing in your dataset</a:t>
            </a:r>
            <a:endParaRPr lang="en-IN" dirty="0">
              <a:latin typeface="Arial" panose="020B0604020202020204" pitchFamily="34" charset="0"/>
              <a:cs typeface="Arial" panose="020B0604020202020204" pitchFamily="34" charset="0"/>
            </a:endParaRPr>
          </a:p>
          <a:p>
            <a:pPr>
              <a:buNone/>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The biggest issue is with network volume and speed metrics:</a:t>
            </a:r>
            <a:r>
              <a:rPr lang="en-IN" sz="1600" dirty="0">
                <a:latin typeface="Arial" panose="020B0604020202020204" pitchFamily="34" charset="0"/>
                <a:cs typeface="Arial" panose="020B0604020202020204" pitchFamily="34" charset="0"/>
              </a:rPr>
              <a:t> The top red bars show that columns related to upload/download volumes (like Nb of sec with 37500B &lt; Vol UL) and TCP/HTTP data have the highest amount of missing information, peaking at over 130,000 missing values.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Network delay metrics are moderately missing:</a:t>
            </a:r>
            <a:r>
              <a:rPr lang="en-IN" sz="1600" dirty="0">
                <a:latin typeface="Arial" panose="020B0604020202020204" pitchFamily="34" charset="0"/>
                <a:cs typeface="Arial" panose="020B0604020202020204" pitchFamily="34" charset="0"/>
              </a:rPr>
              <a:t> The two yellow bars (Avg RTT DL and Avg RTT UL) are both missing around 27,000 values.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User and device identifiers are mostly intact:</a:t>
            </a:r>
            <a:r>
              <a:rPr lang="en-IN" sz="1600" dirty="0">
                <a:latin typeface="Arial" panose="020B0604020202020204" pitchFamily="34" charset="0"/>
                <a:cs typeface="Arial" panose="020B0604020202020204" pitchFamily="34" charset="0"/>
              </a:rPr>
              <a:t> Columns like MSISDN/Number, Bearer Id, Handset Manufacturer, and IMSI (shown in blue) are missing very little data (mostly under 1,500 values).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Basic connection data is nearly perfect:</a:t>
            </a:r>
            <a:r>
              <a:rPr lang="en-IN" sz="1600" dirty="0">
                <a:latin typeface="Arial" panose="020B0604020202020204" pitchFamily="34" charset="0"/>
                <a:cs typeface="Arial" panose="020B0604020202020204" pitchFamily="34" charset="0"/>
              </a:rPr>
              <a:t> The bottom columns (like Start, End, and Total UL/DL (Bytes)) are only missing 1 value each, meaning this foundational data is almost fully complete.</a:t>
            </a:r>
          </a:p>
        </p:txBody>
      </p:sp>
    </p:spTree>
    <p:extLst>
      <p:ext uri="{BB962C8B-B14F-4D97-AF65-F5344CB8AC3E}">
        <p14:creationId xmlns:p14="http://schemas.microsoft.com/office/powerpoint/2010/main" val="490941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A2DF84-B391-6B42-7642-7A224E5225FC}"/>
              </a:ext>
            </a:extLst>
          </p:cNvPr>
          <p:cNvPicPr>
            <a:picLocks noChangeAspect="1"/>
          </p:cNvPicPr>
          <p:nvPr/>
        </p:nvPicPr>
        <p:blipFill>
          <a:blip r:embed="rId2"/>
          <a:stretch>
            <a:fillRect/>
          </a:stretch>
        </p:blipFill>
        <p:spPr>
          <a:xfrm>
            <a:off x="230347" y="419531"/>
            <a:ext cx="5655446" cy="5644938"/>
          </a:xfrm>
          <a:prstGeom prst="rect">
            <a:avLst/>
          </a:prstGeom>
        </p:spPr>
      </p:pic>
      <p:sp>
        <p:nvSpPr>
          <p:cNvPr id="7" name="TextBox 6">
            <a:extLst>
              <a:ext uri="{FF2B5EF4-FFF2-40B4-BE49-F238E27FC236}">
                <a16:creationId xmlns:a16="http://schemas.microsoft.com/office/drawing/2014/main" id="{1ED66A95-77CF-F3A7-FF10-858571725DD2}"/>
              </a:ext>
            </a:extLst>
          </p:cNvPr>
          <p:cNvSpPr txBox="1"/>
          <p:nvPr/>
        </p:nvSpPr>
        <p:spPr>
          <a:xfrm>
            <a:off x="6096000" y="628233"/>
            <a:ext cx="5066868" cy="5601533"/>
          </a:xfrm>
          <a:prstGeom prst="rect">
            <a:avLst/>
          </a:prstGeom>
          <a:noFill/>
        </p:spPr>
        <p:txBody>
          <a:bodyPr wrap="square">
            <a:spAutoFit/>
          </a:bodyPr>
          <a:lstStyle/>
          <a:p>
            <a:pPr marL="285750" indent="-285750">
              <a:buFont typeface="Wingdings" panose="05000000000000000000" pitchFamily="2" charset="2"/>
              <a:buChar char="q"/>
            </a:pPr>
            <a:r>
              <a:rPr lang="en-IN" sz="2000" b="1" dirty="0">
                <a:latin typeface="Arial" panose="020B0604020202020204" pitchFamily="34" charset="0"/>
                <a:cs typeface="Arial" panose="020B0604020202020204" pitchFamily="34" charset="0"/>
              </a:rPr>
              <a:t>Insights</a:t>
            </a:r>
          </a:p>
          <a:p>
            <a:endParaRPr lang="en-IN" dirty="0"/>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Content consumption is dominated by media-heavy apps. The data traffic scale for Netflix and Gaming is multi-fold higher than Email or Social Media.</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Apps like Social Media and Google have a massive frequency (very tall bars on the left), meaning users open them constantly throughout the day, but they don't consume huge amounts of bytes per session.</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The extremely sharp spike in Total Duration near zero proves that your network experiences millions of micro-transactions—users checking notifications for just a few seconds and disconnecting.</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Ensure your network switchboards can handle millions of simultaneous connection requests without dropping signal, rather than worrying about long-lasting continuous sessions.</a:t>
            </a:r>
          </a:p>
        </p:txBody>
      </p:sp>
    </p:spTree>
    <p:extLst>
      <p:ext uri="{BB962C8B-B14F-4D97-AF65-F5344CB8AC3E}">
        <p14:creationId xmlns:p14="http://schemas.microsoft.com/office/powerpoint/2010/main" val="20627225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612B81-195F-C58A-959A-07ACFAFC803C}"/>
              </a:ext>
            </a:extLst>
          </p:cNvPr>
          <p:cNvPicPr>
            <a:picLocks noChangeAspect="1"/>
          </p:cNvPicPr>
          <p:nvPr/>
        </p:nvPicPr>
        <p:blipFill>
          <a:blip r:embed="rId2"/>
          <a:stretch>
            <a:fillRect/>
          </a:stretch>
        </p:blipFill>
        <p:spPr>
          <a:xfrm>
            <a:off x="233085" y="604920"/>
            <a:ext cx="5106172" cy="5648159"/>
          </a:xfrm>
          <a:prstGeom prst="rect">
            <a:avLst/>
          </a:prstGeom>
        </p:spPr>
      </p:pic>
      <p:sp>
        <p:nvSpPr>
          <p:cNvPr id="5" name="TextBox 4">
            <a:extLst>
              <a:ext uri="{FF2B5EF4-FFF2-40B4-BE49-F238E27FC236}">
                <a16:creationId xmlns:a16="http://schemas.microsoft.com/office/drawing/2014/main" id="{E0039B32-E402-884D-4FF4-6DACCCFF6FE8}"/>
              </a:ext>
            </a:extLst>
          </p:cNvPr>
          <p:cNvSpPr txBox="1"/>
          <p:nvPr/>
        </p:nvSpPr>
        <p:spPr>
          <a:xfrm>
            <a:off x="5433848" y="604920"/>
            <a:ext cx="6230779" cy="5847755"/>
          </a:xfrm>
          <a:prstGeom prst="rect">
            <a:avLst/>
          </a:prstGeom>
          <a:noFill/>
        </p:spPr>
        <p:txBody>
          <a:bodyPr wrap="square">
            <a:spAutoFit/>
          </a:bodyPr>
          <a:lstStyle/>
          <a:p>
            <a:pPr marL="342900" indent="-342900">
              <a:buFont typeface="Wingdings" panose="05000000000000000000" pitchFamily="2" charset="2"/>
              <a:buChar char="q"/>
            </a:pPr>
            <a:r>
              <a:rPr lang="en-IN" sz="2000" b="1" dirty="0">
                <a:latin typeface="Arial" panose="020B0604020202020204" pitchFamily="34" charset="0"/>
                <a:cs typeface="Arial" panose="020B0604020202020204" pitchFamily="34" charset="0"/>
              </a:rPr>
              <a:t>Insights</a:t>
            </a:r>
          </a:p>
          <a:p>
            <a:endParaRPr lang="en-IN" dirty="0"/>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The 1 device by a huge margin is the Huawei B528S-23A, which is actually a 4G home router/gateway, not a smartphone.</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This shows that a significant portion of your high-volume users are using fixed wireless internet for their homes or offices rather than just mobile data on the go. You should design specific "Home Wi-Fi" unlimited data plans to target this massive segment.</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Looking at smartphones alone, Apple absolutely dominates your network. Out of the top 10 positions, 7 belong to various iPhone models (iPhone 6S, 6, 7, SE, 8, XR, X).</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Your user base has a high concentration of premium, tech-savvy, or affluent users. You can partner with premium brands for marketing, and prioritize making sure your mobile app and network configurations are perfectly optimized for iOS devices.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dirty="0">
                <a:latin typeface="Arial" panose="020B0604020202020204" pitchFamily="34" charset="0"/>
                <a:cs typeface="Arial" panose="020B0604020202020204" pitchFamily="34" charset="0"/>
              </a:rPr>
              <a:t>Interestingly, older models like the iPhone 6S and iPhone 6 are much higher on the list than newer ones like the iPhone X or XR.</a:t>
            </a:r>
          </a:p>
        </p:txBody>
      </p:sp>
    </p:spTree>
    <p:extLst>
      <p:ext uri="{BB962C8B-B14F-4D97-AF65-F5344CB8AC3E}">
        <p14:creationId xmlns:p14="http://schemas.microsoft.com/office/powerpoint/2010/main" val="21928212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A2AC27-22E5-0650-D27F-ECBC9292C0C4}"/>
              </a:ext>
            </a:extLst>
          </p:cNvPr>
          <p:cNvPicPr>
            <a:picLocks noChangeAspect="1"/>
          </p:cNvPicPr>
          <p:nvPr/>
        </p:nvPicPr>
        <p:blipFill>
          <a:blip r:embed="rId2"/>
          <a:stretch>
            <a:fillRect/>
          </a:stretch>
        </p:blipFill>
        <p:spPr>
          <a:xfrm>
            <a:off x="546538" y="349469"/>
            <a:ext cx="8555421" cy="6159062"/>
          </a:xfrm>
          <a:prstGeom prst="rect">
            <a:avLst/>
          </a:prstGeom>
        </p:spPr>
      </p:pic>
    </p:spTree>
    <p:extLst>
      <p:ext uri="{BB962C8B-B14F-4D97-AF65-F5344CB8AC3E}">
        <p14:creationId xmlns:p14="http://schemas.microsoft.com/office/powerpoint/2010/main" val="23289391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B14F48-2D8B-89D5-C88D-C2FAC8794ADA}"/>
              </a:ext>
            </a:extLst>
          </p:cNvPr>
          <p:cNvPicPr>
            <a:picLocks noChangeAspect="1"/>
          </p:cNvPicPr>
          <p:nvPr/>
        </p:nvPicPr>
        <p:blipFill>
          <a:blip r:embed="rId2"/>
          <a:stretch>
            <a:fillRect/>
          </a:stretch>
        </p:blipFill>
        <p:spPr>
          <a:xfrm>
            <a:off x="178677" y="530541"/>
            <a:ext cx="9249102" cy="3473900"/>
          </a:xfrm>
          <a:prstGeom prst="rect">
            <a:avLst/>
          </a:prstGeom>
        </p:spPr>
      </p:pic>
      <p:sp>
        <p:nvSpPr>
          <p:cNvPr id="5" name="TextBox 4">
            <a:extLst>
              <a:ext uri="{FF2B5EF4-FFF2-40B4-BE49-F238E27FC236}">
                <a16:creationId xmlns:a16="http://schemas.microsoft.com/office/drawing/2014/main" id="{9C4B3A8D-ACB5-8FCD-1959-B2C67135A89E}"/>
              </a:ext>
            </a:extLst>
          </p:cNvPr>
          <p:cNvSpPr txBox="1"/>
          <p:nvPr/>
        </p:nvSpPr>
        <p:spPr>
          <a:xfrm>
            <a:off x="367862" y="4246038"/>
            <a:ext cx="9375228" cy="2369880"/>
          </a:xfrm>
          <a:prstGeom prst="rect">
            <a:avLst/>
          </a:prstGeom>
          <a:noFill/>
        </p:spPr>
        <p:txBody>
          <a:bodyPr wrap="square">
            <a:spAutoFit/>
          </a:bodyPr>
          <a:lstStyle/>
          <a:p>
            <a:pPr marL="342900" marR="0" indent="-342900" algn="l">
              <a:buFont typeface="Wingdings" panose="05000000000000000000" pitchFamily="2" charset="2"/>
              <a:buChar char="q"/>
            </a:pPr>
            <a:r>
              <a:rPr lang="en-IN" sz="2000" b="1" i="0" dirty="0">
                <a:solidFill>
                  <a:schemeClr val="tx1">
                    <a:lumMod val="95000"/>
                    <a:lumOff val="5000"/>
                  </a:schemeClr>
                </a:solidFill>
                <a:effectLst/>
                <a:latin typeface="Arial" panose="020B0604020202020204" pitchFamily="34" charset="0"/>
                <a:cs typeface="Arial" panose="020B0604020202020204" pitchFamily="34" charset="0"/>
              </a:rPr>
              <a:t>Insights</a:t>
            </a:r>
          </a:p>
          <a:p>
            <a:pPr marL="0" marR="0" indent="0" algn="l">
              <a:buNone/>
            </a:pPr>
            <a:endParaRPr lang="en-IN" sz="1600" dirty="0">
              <a:solidFill>
                <a:schemeClr val="tx1">
                  <a:lumMod val="95000"/>
                  <a:lumOff val="5000"/>
                </a:schemeClr>
              </a:solidFill>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For both Apple and Samsung, the top charts are heavily populated by older legacy devices (iPhone 6S, iPhone 6, Samsung Galaxy S8, Galaxy S7, Galaxy A5).</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the Huawei chart is overwhelmingly dominated by a single device—the Huawei B528S-23A (a home Wi-Fi router)—while its smartphones (like the P20 and Y6) have tiny counts. In contrast, Apple and Samsung have a very healthy, evenly distributed spread across multiple smartphone models (like iPhone 6S/6 and Galaxy S8/A5).</a:t>
            </a:r>
          </a:p>
        </p:txBody>
      </p:sp>
    </p:spTree>
    <p:extLst>
      <p:ext uri="{BB962C8B-B14F-4D97-AF65-F5344CB8AC3E}">
        <p14:creationId xmlns:p14="http://schemas.microsoft.com/office/powerpoint/2010/main" val="17871782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836A79-1511-9BF5-2B51-A5F48504323F}"/>
              </a:ext>
            </a:extLst>
          </p:cNvPr>
          <p:cNvPicPr>
            <a:picLocks noChangeAspect="1"/>
          </p:cNvPicPr>
          <p:nvPr/>
        </p:nvPicPr>
        <p:blipFill>
          <a:blip r:embed="rId2"/>
          <a:stretch>
            <a:fillRect/>
          </a:stretch>
        </p:blipFill>
        <p:spPr>
          <a:xfrm>
            <a:off x="398437" y="514404"/>
            <a:ext cx="4846226" cy="5770781"/>
          </a:xfrm>
          <a:prstGeom prst="rect">
            <a:avLst/>
          </a:prstGeom>
        </p:spPr>
      </p:pic>
      <p:sp>
        <p:nvSpPr>
          <p:cNvPr id="5" name="TextBox 4">
            <a:extLst>
              <a:ext uri="{FF2B5EF4-FFF2-40B4-BE49-F238E27FC236}">
                <a16:creationId xmlns:a16="http://schemas.microsoft.com/office/drawing/2014/main" id="{5A87F60A-FBC8-5FC4-DE72-C52E66A7654D}"/>
              </a:ext>
            </a:extLst>
          </p:cNvPr>
          <p:cNvSpPr txBox="1"/>
          <p:nvPr/>
        </p:nvSpPr>
        <p:spPr>
          <a:xfrm>
            <a:off x="5446985" y="397401"/>
            <a:ext cx="5778063" cy="6063198"/>
          </a:xfrm>
          <a:prstGeom prst="rect">
            <a:avLst/>
          </a:prstGeom>
          <a:noFill/>
        </p:spPr>
        <p:txBody>
          <a:bodyPr wrap="square">
            <a:spAutoFit/>
          </a:bodyPr>
          <a:lstStyle/>
          <a:p>
            <a:pPr marL="285750" marR="0" indent="-285750" algn="l">
              <a:buFont typeface="Wingdings" panose="05000000000000000000" pitchFamily="2" charset="2"/>
              <a:buChar char="q"/>
            </a:pPr>
            <a:r>
              <a:rPr lang="en-IN" sz="2000" b="1" i="0" dirty="0">
                <a:solidFill>
                  <a:schemeClr val="tx1">
                    <a:lumMod val="95000"/>
                    <a:lumOff val="5000"/>
                  </a:schemeClr>
                </a:solidFill>
                <a:effectLst/>
                <a:latin typeface="Arial" panose="020B0604020202020204" pitchFamily="34" charset="0"/>
                <a:cs typeface="Arial" panose="020B0604020202020204" pitchFamily="34" charset="0"/>
              </a:rPr>
              <a:t>Insights</a:t>
            </a:r>
          </a:p>
          <a:p>
            <a:pPr marR="0" algn="l"/>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Decile Class D10 (the top 10% of users who stay connected the longest) consumes an astronomical amount of data—nearly 15,000 GB. This is more than double the consumption of most individual lower deciles (D1 to D7).</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These are your most valuable power-users—likely watching continuous video streaming, downloading massive files, or gaming for hours. You must introduce specialized premium "unlimited duration/data" loyalty tiers to prevent this high-revenue cohort from churning to competitors.</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Even the users who spend the least amount of time on the network (D1) still consume a very significant baseline volume of data (around 5,400 GB). From D1 to D7, data volume remains relatively stable between 5,000 GB and 6,500 GB.</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There is a distinct "hockey-stick" growth curve starting from D8 (around 7,800 GB) which jumps up sharply through D9 (around 9,300 GB) and peaks drastically at D10.</a:t>
            </a:r>
          </a:p>
        </p:txBody>
      </p:sp>
    </p:spTree>
    <p:extLst>
      <p:ext uri="{BB962C8B-B14F-4D97-AF65-F5344CB8AC3E}">
        <p14:creationId xmlns:p14="http://schemas.microsoft.com/office/powerpoint/2010/main" val="18601730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41A109-8BAC-0DE9-99D2-003F3966E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490155"/>
            <a:ext cx="5370786" cy="5749159"/>
          </a:xfrm>
          <a:prstGeom prst="rect">
            <a:avLst/>
          </a:prstGeom>
        </p:spPr>
      </p:pic>
      <p:sp>
        <p:nvSpPr>
          <p:cNvPr id="5" name="TextBox 4">
            <a:extLst>
              <a:ext uri="{FF2B5EF4-FFF2-40B4-BE49-F238E27FC236}">
                <a16:creationId xmlns:a16="http://schemas.microsoft.com/office/drawing/2014/main" id="{67D5A1C7-CB56-AE1C-0FCF-C69EE091684B}"/>
              </a:ext>
            </a:extLst>
          </p:cNvPr>
          <p:cNvSpPr txBox="1"/>
          <p:nvPr/>
        </p:nvSpPr>
        <p:spPr>
          <a:xfrm>
            <a:off x="5870029" y="181957"/>
            <a:ext cx="6101254" cy="6494085"/>
          </a:xfrm>
          <a:prstGeom prst="rect">
            <a:avLst/>
          </a:prstGeom>
          <a:noFill/>
        </p:spPr>
        <p:txBody>
          <a:bodyPr wrap="square">
            <a:spAutoFit/>
          </a:bodyPr>
          <a:lstStyle/>
          <a:p>
            <a:pPr marL="285750" indent="-285750">
              <a:buFont typeface="Wingdings" panose="05000000000000000000" pitchFamily="2" charset="2"/>
              <a:buChar char="q"/>
            </a:pPr>
            <a:r>
              <a:rPr lang="en-IN" sz="2000" b="1" dirty="0">
                <a:latin typeface="Arial" panose="020B0604020202020204" pitchFamily="34" charset="0"/>
                <a:cs typeface="Arial" panose="020B0604020202020204" pitchFamily="34" charset="0"/>
              </a:rPr>
              <a:t>Insights</a:t>
            </a:r>
          </a:p>
          <a:p>
            <a:pPr marL="285750" indent="-285750">
              <a:buFont typeface="Wingdings" panose="05000000000000000000" pitchFamily="2" charset="2"/>
              <a:buChar char="ü"/>
            </a:pPr>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Huawei dominates network performance: </a:t>
            </a:r>
            <a:r>
              <a:rPr lang="en-IN" sz="1600" dirty="0">
                <a:latin typeface="Arial" panose="020B0604020202020204" pitchFamily="34" charset="0"/>
                <a:cs typeface="Arial" panose="020B0604020202020204" pitchFamily="34" charset="0"/>
              </a:rPr>
              <a:t>Huawei devices deliver significantly faster internet speeds than any other manufacturer on the list. Its average download speed (DL) is roughly three times faster than market leaders like Samsung and Apple.</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The download vs. upload gap is massive: </a:t>
            </a:r>
            <a:r>
              <a:rPr lang="en-IN" sz="1600" dirty="0">
                <a:latin typeface="Arial" panose="020B0604020202020204" pitchFamily="34" charset="0"/>
                <a:cs typeface="Arial" panose="020B0604020202020204" pitchFamily="34" charset="0"/>
              </a:rPr>
              <a:t>For every brand, downloading data (streaming, browsing, pulling files) is exponentially faster than uploading data (posting videos, sending files).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Sony outperforms the biggest giants: </a:t>
            </a:r>
            <a:r>
              <a:rPr lang="en-IN" sz="1600" dirty="0">
                <a:latin typeface="Arial" panose="020B0604020202020204" pitchFamily="34" charset="0"/>
                <a:cs typeface="Arial" panose="020B0604020202020204" pitchFamily="34" charset="0"/>
              </a:rPr>
              <a:t>While Samsung and Apple dominate global market share, Sony devices actually outperform them in data speeds, taking a clear second place on this chart.</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Apple and Samsung are neck-and-neck: </a:t>
            </a:r>
            <a:r>
              <a:rPr lang="en-IN" sz="1600" dirty="0">
                <a:latin typeface="Arial" panose="020B0604020202020204" pitchFamily="34" charset="0"/>
                <a:cs typeface="Arial" panose="020B0604020202020204" pitchFamily="34" charset="0"/>
              </a:rPr>
              <a:t>The two biggest smartphone brands deliver nearly identical download and upload performance on this network, meaning they offer a very similar user experience regarding internet speed.</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Wiko lags behind: </a:t>
            </a:r>
            <a:r>
              <a:rPr lang="en-IN" sz="1600" dirty="0">
                <a:latin typeface="Arial" panose="020B0604020202020204" pitchFamily="34" charset="0"/>
                <a:cs typeface="Arial" panose="020B0604020202020204" pitchFamily="34" charset="0"/>
              </a:rPr>
              <a:t>Wiko devices have the lowest performance on the chart, meaning their users experience the slowest download and upload speeds.</a:t>
            </a:r>
          </a:p>
        </p:txBody>
      </p:sp>
    </p:spTree>
    <p:extLst>
      <p:ext uri="{BB962C8B-B14F-4D97-AF65-F5344CB8AC3E}">
        <p14:creationId xmlns:p14="http://schemas.microsoft.com/office/powerpoint/2010/main" val="697575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DFA379-A1E8-A288-0093-46004DE48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70" y="807006"/>
            <a:ext cx="5396551" cy="5089297"/>
          </a:xfrm>
          <a:prstGeom prst="rect">
            <a:avLst/>
          </a:prstGeom>
        </p:spPr>
      </p:pic>
      <p:sp>
        <p:nvSpPr>
          <p:cNvPr id="5" name="TextBox 4">
            <a:extLst>
              <a:ext uri="{FF2B5EF4-FFF2-40B4-BE49-F238E27FC236}">
                <a16:creationId xmlns:a16="http://schemas.microsoft.com/office/drawing/2014/main" id="{A2BB3B53-A4AE-A49E-098D-007A72EA865D}"/>
              </a:ext>
            </a:extLst>
          </p:cNvPr>
          <p:cNvSpPr txBox="1"/>
          <p:nvPr/>
        </p:nvSpPr>
        <p:spPr>
          <a:xfrm>
            <a:off x="6096000" y="1382286"/>
            <a:ext cx="5021317" cy="4093428"/>
          </a:xfrm>
          <a:prstGeom prst="rect">
            <a:avLst/>
          </a:prstGeom>
          <a:noFill/>
        </p:spPr>
        <p:txBody>
          <a:bodyPr wrap="square">
            <a:spAutoFit/>
          </a:bodyPr>
          <a:lstStyle/>
          <a:p>
            <a:pPr marL="342900" marR="0" indent="-342900" algn="l">
              <a:buFont typeface="Wingdings" panose="05000000000000000000" pitchFamily="2" charset="2"/>
              <a:buChar char="q"/>
            </a:pPr>
            <a:r>
              <a:rPr lang="en-IN" sz="2000" b="1" i="0" dirty="0">
                <a:solidFill>
                  <a:schemeClr val="tx1">
                    <a:lumMod val="95000"/>
                    <a:lumOff val="5000"/>
                  </a:schemeClr>
                </a:solidFill>
                <a:effectLst/>
                <a:latin typeface="Arial" panose="020B0604020202020204" pitchFamily="34" charset="0"/>
                <a:cs typeface="Arial" panose="020B0604020202020204" pitchFamily="34" charset="0"/>
              </a:rPr>
              <a:t>Insights</a:t>
            </a:r>
          </a:p>
          <a:p>
            <a:pPr marL="285750" marR="0" indent="-285750" algn="l">
              <a:buFont typeface="Wingdings" panose="05000000000000000000" pitchFamily="2" charset="2"/>
              <a:buChar char="ü"/>
            </a:pPr>
            <a:endParaRPr lang="en-IN" sz="1600" b="1" dirty="0">
              <a:solidFill>
                <a:schemeClr val="tx1">
                  <a:lumMod val="95000"/>
                  <a:lumOff val="5000"/>
                </a:schemeClr>
              </a:solidFill>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Identical user behaviour across all devices:</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Regardless of the smartphone brand or model (whether an older iPhone 6 or a Samsung Galaxy S8), the ratio of download data to upload data remains completely identical.</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Downloads heavily dominate network traffic:</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For every single device listed, downloading traffic makes up roughly 92% of their total data usage.</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Upload usage is universally low:</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Uploading traffic accounts for a tiny fraction—only about 8% of total data usage across all models.</a:t>
            </a:r>
          </a:p>
        </p:txBody>
      </p:sp>
    </p:spTree>
    <p:extLst>
      <p:ext uri="{BB962C8B-B14F-4D97-AF65-F5344CB8AC3E}">
        <p14:creationId xmlns:p14="http://schemas.microsoft.com/office/powerpoint/2010/main" val="19373248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7CD2B3-36E4-D9E4-BB27-A03B9EF27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21" y="1007716"/>
            <a:ext cx="4981903" cy="5052773"/>
          </a:xfrm>
          <a:prstGeom prst="rect">
            <a:avLst/>
          </a:prstGeom>
        </p:spPr>
      </p:pic>
      <p:sp>
        <p:nvSpPr>
          <p:cNvPr id="5" name="TextBox 4">
            <a:extLst>
              <a:ext uri="{FF2B5EF4-FFF2-40B4-BE49-F238E27FC236}">
                <a16:creationId xmlns:a16="http://schemas.microsoft.com/office/drawing/2014/main" id="{EF33ADDD-8150-F454-C9B2-12B05EEB9D89}"/>
              </a:ext>
            </a:extLst>
          </p:cNvPr>
          <p:cNvSpPr txBox="1"/>
          <p:nvPr/>
        </p:nvSpPr>
        <p:spPr>
          <a:xfrm>
            <a:off x="5465380" y="797510"/>
            <a:ext cx="5665076" cy="5262979"/>
          </a:xfrm>
          <a:prstGeom prst="rect">
            <a:avLst/>
          </a:prstGeom>
          <a:noFill/>
        </p:spPr>
        <p:txBody>
          <a:bodyPr wrap="square">
            <a:spAutoFit/>
          </a:bodyPr>
          <a:lstStyle/>
          <a:p>
            <a:pPr marL="285750" indent="-285750">
              <a:buFont typeface="Wingdings" panose="05000000000000000000" pitchFamily="2" charset="2"/>
              <a:buChar char="q"/>
            </a:pPr>
            <a:r>
              <a:rPr lang="en-IN" sz="1600" b="1" dirty="0">
                <a:latin typeface="Arial" panose="020B0604020202020204" pitchFamily="34" charset="0"/>
                <a:cs typeface="Arial" panose="020B0604020202020204" pitchFamily="34" charset="0"/>
              </a:rPr>
              <a:t>Insights</a:t>
            </a:r>
          </a:p>
          <a:p>
            <a:pPr marL="285750" indent="-285750">
              <a:buFont typeface="Wingdings" panose="05000000000000000000" pitchFamily="2" charset="2"/>
              <a:buChar char="ü"/>
            </a:pPr>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Gaming consumes massive download data: </a:t>
            </a:r>
            <a:r>
              <a:rPr lang="en-IN" sz="1600" dirty="0">
                <a:latin typeface="Arial" panose="020B0604020202020204" pitchFamily="34" charset="0"/>
                <a:cs typeface="Arial" panose="020B0604020202020204" pitchFamily="34" charset="0"/>
              </a:rPr>
              <a:t>Gaming is the clear outlier. When users open a gaming session, they download an immense amount of data—over 400 MB per session on average. This is vastly higher than common data-heavy apps like YouTube or Netflix.</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Most standard apps have low data footprints per session: </a:t>
            </a:r>
            <a:r>
              <a:rPr lang="en-IN" sz="1600" dirty="0">
                <a:latin typeface="Arial" panose="020B0604020202020204" pitchFamily="34" charset="0"/>
                <a:cs typeface="Arial" panose="020B0604020202020204" pitchFamily="34" charset="0"/>
              </a:rPr>
              <a:t>Social Media, Google, Email, YouTube, and Netflix all use surprisingly low data volumes per individual session (under 15 MB).</a:t>
            </a:r>
          </a:p>
          <a:p>
            <a:pPr marL="285750" indent="-285750">
              <a:buFont typeface="Wingdings" panose="05000000000000000000" pitchFamily="2" charset="2"/>
              <a:buChar char="ü"/>
            </a:pPr>
            <a:endParaRPr lang="en-IN" sz="16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Upload requirements are minimal everywhere: </a:t>
            </a:r>
            <a:r>
              <a:rPr lang="en-IN" sz="1600" dirty="0">
                <a:latin typeface="Arial" panose="020B0604020202020204" pitchFamily="34" charset="0"/>
                <a:cs typeface="Arial" panose="020B0604020202020204" pitchFamily="34" charset="0"/>
              </a:rPr>
              <a:t>Across all applications, upload needs remain very low. Even for Gaming, which has massive download demands, the upload volume stays under 10 MB per session.</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sz="1600" b="1" dirty="0">
                <a:latin typeface="Arial" panose="020B0604020202020204" pitchFamily="34" charset="0"/>
                <a:cs typeface="Arial" panose="020B0604020202020204" pitchFamily="34" charset="0"/>
              </a:rPr>
              <a:t>The "Other" category is a heavy data driver: </a:t>
            </a:r>
            <a:r>
              <a:rPr lang="en-IN" sz="1600" dirty="0">
                <a:latin typeface="Arial" panose="020B0604020202020204" pitchFamily="34" charset="0"/>
                <a:cs typeface="Arial" panose="020B0604020202020204" pitchFamily="34" charset="0"/>
              </a:rPr>
              <a:t>Just like gaming, the "Other" category consumes over 400 MB of download data per session.</a:t>
            </a:r>
          </a:p>
        </p:txBody>
      </p:sp>
    </p:spTree>
    <p:extLst>
      <p:ext uri="{BB962C8B-B14F-4D97-AF65-F5344CB8AC3E}">
        <p14:creationId xmlns:p14="http://schemas.microsoft.com/office/powerpoint/2010/main" val="11493253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98130F-104D-37B5-E548-A15012F9D6C2}"/>
              </a:ext>
            </a:extLst>
          </p:cNvPr>
          <p:cNvPicPr>
            <a:picLocks noChangeAspect="1"/>
          </p:cNvPicPr>
          <p:nvPr/>
        </p:nvPicPr>
        <p:blipFill>
          <a:blip r:embed="rId2"/>
          <a:stretch>
            <a:fillRect/>
          </a:stretch>
        </p:blipFill>
        <p:spPr>
          <a:xfrm>
            <a:off x="472966" y="373115"/>
            <a:ext cx="5549461" cy="6111770"/>
          </a:xfrm>
          <a:prstGeom prst="rect">
            <a:avLst/>
          </a:prstGeom>
        </p:spPr>
      </p:pic>
      <p:sp>
        <p:nvSpPr>
          <p:cNvPr id="5" name="TextBox 4">
            <a:extLst>
              <a:ext uri="{FF2B5EF4-FFF2-40B4-BE49-F238E27FC236}">
                <a16:creationId xmlns:a16="http://schemas.microsoft.com/office/drawing/2014/main" id="{4234AE2D-664F-5D51-DD55-BD7FA7CF8CA8}"/>
              </a:ext>
            </a:extLst>
          </p:cNvPr>
          <p:cNvSpPr txBox="1"/>
          <p:nvPr/>
        </p:nvSpPr>
        <p:spPr>
          <a:xfrm>
            <a:off x="6096000" y="766732"/>
            <a:ext cx="4824247" cy="5324535"/>
          </a:xfrm>
          <a:prstGeom prst="rect">
            <a:avLst/>
          </a:prstGeom>
          <a:noFill/>
        </p:spPr>
        <p:txBody>
          <a:bodyPr wrap="square">
            <a:spAutoFit/>
          </a:bodyPr>
          <a:lstStyle/>
          <a:p>
            <a:pPr marL="342900" marR="0" indent="-342900" algn="l">
              <a:buFont typeface="Wingdings" panose="05000000000000000000" pitchFamily="2" charset="2"/>
              <a:buChar char="q"/>
            </a:pPr>
            <a:r>
              <a:rPr lang="en-IN" sz="2000" b="1" i="0" dirty="0">
                <a:solidFill>
                  <a:schemeClr val="tx1">
                    <a:lumMod val="95000"/>
                    <a:lumOff val="5000"/>
                  </a:schemeClr>
                </a:solidFill>
                <a:effectLst/>
                <a:latin typeface="Arial" panose="020B0604020202020204" pitchFamily="34" charset="0"/>
                <a:cs typeface="Arial" panose="020B0604020202020204" pitchFamily="34" charset="0"/>
              </a:rPr>
              <a:t>Insights</a:t>
            </a:r>
            <a:endParaRPr lang="en-IN" sz="1600" b="1"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endParaRPr lang="en-IN" sz="1600" dirty="0">
              <a:solidFill>
                <a:schemeClr val="tx1">
                  <a:lumMod val="95000"/>
                  <a:lumOff val="5000"/>
                </a:schemeClr>
              </a:solidFill>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The highest correlation value is between YouTube and Netflix (0.74).</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This shows that users who consume a lot of video data on YouTube are highly likely to do the same on Netflix. The business should introduce a combined "Streaming/Entertainment Pass" that offers discounted or high-speed data specifically bundled for both YouTube and Netflix together.</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Google shows consistently strong positive correlations across all other apps—such as with YouTube (0.72), Netflix (0.72), and Email (0.69).</a:t>
            </a:r>
          </a:p>
          <a:p>
            <a:pPr marL="285750" marR="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All correlation values in the matrix are moderately high and positive (ranging roughly from 0.59 to 0.74). There are zero negative or weak correlations.</a:t>
            </a:r>
          </a:p>
        </p:txBody>
      </p:sp>
    </p:spTree>
    <p:extLst>
      <p:ext uri="{BB962C8B-B14F-4D97-AF65-F5344CB8AC3E}">
        <p14:creationId xmlns:p14="http://schemas.microsoft.com/office/powerpoint/2010/main" val="4618354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C0279D-6853-0258-66A4-320CF065C9FC}"/>
              </a:ext>
            </a:extLst>
          </p:cNvPr>
          <p:cNvPicPr>
            <a:picLocks noChangeAspect="1"/>
          </p:cNvPicPr>
          <p:nvPr/>
        </p:nvPicPr>
        <p:blipFill>
          <a:blip r:embed="rId2"/>
          <a:stretch>
            <a:fillRect/>
          </a:stretch>
        </p:blipFill>
        <p:spPr>
          <a:xfrm>
            <a:off x="399392" y="498092"/>
            <a:ext cx="8902263" cy="5629439"/>
          </a:xfrm>
          <a:prstGeom prst="rect">
            <a:avLst/>
          </a:prstGeom>
        </p:spPr>
      </p:pic>
    </p:spTree>
    <p:extLst>
      <p:ext uri="{BB962C8B-B14F-4D97-AF65-F5344CB8AC3E}">
        <p14:creationId xmlns:p14="http://schemas.microsoft.com/office/powerpoint/2010/main" val="29597931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BED210-CBD7-B9BB-08DB-44EA84D16916}"/>
              </a:ext>
            </a:extLst>
          </p:cNvPr>
          <p:cNvPicPr>
            <a:picLocks noChangeAspect="1"/>
          </p:cNvPicPr>
          <p:nvPr/>
        </p:nvPicPr>
        <p:blipFill>
          <a:blip r:embed="rId2"/>
          <a:stretch>
            <a:fillRect/>
          </a:stretch>
        </p:blipFill>
        <p:spPr>
          <a:xfrm>
            <a:off x="420415" y="498092"/>
            <a:ext cx="9080937" cy="5650460"/>
          </a:xfrm>
          <a:prstGeom prst="rect">
            <a:avLst/>
          </a:prstGeom>
        </p:spPr>
      </p:pic>
    </p:spTree>
    <p:extLst>
      <p:ext uri="{BB962C8B-B14F-4D97-AF65-F5344CB8AC3E}">
        <p14:creationId xmlns:p14="http://schemas.microsoft.com/office/powerpoint/2010/main" val="18222015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6D8835-C9A5-8DA7-3713-1B24422A8D61}"/>
              </a:ext>
            </a:extLst>
          </p:cNvPr>
          <p:cNvPicPr>
            <a:picLocks noChangeAspect="1"/>
          </p:cNvPicPr>
          <p:nvPr/>
        </p:nvPicPr>
        <p:blipFill>
          <a:blip r:embed="rId2"/>
          <a:stretch>
            <a:fillRect/>
          </a:stretch>
        </p:blipFill>
        <p:spPr>
          <a:xfrm>
            <a:off x="321386" y="655746"/>
            <a:ext cx="8812103" cy="5366681"/>
          </a:xfrm>
          <a:prstGeom prst="rect">
            <a:avLst/>
          </a:prstGeom>
        </p:spPr>
      </p:pic>
    </p:spTree>
    <p:extLst>
      <p:ext uri="{BB962C8B-B14F-4D97-AF65-F5344CB8AC3E}">
        <p14:creationId xmlns:p14="http://schemas.microsoft.com/office/powerpoint/2010/main" val="228107362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ABF5A6-2412-148E-8895-C0F181793543}"/>
              </a:ext>
            </a:extLst>
          </p:cNvPr>
          <p:cNvPicPr>
            <a:picLocks noChangeAspect="1"/>
          </p:cNvPicPr>
          <p:nvPr/>
        </p:nvPicPr>
        <p:blipFill>
          <a:blip r:embed="rId2"/>
          <a:stretch>
            <a:fillRect/>
          </a:stretch>
        </p:blipFill>
        <p:spPr>
          <a:xfrm>
            <a:off x="396106" y="557049"/>
            <a:ext cx="5699894" cy="5770180"/>
          </a:xfrm>
          <a:prstGeom prst="rect">
            <a:avLst/>
          </a:prstGeom>
        </p:spPr>
      </p:pic>
      <p:sp>
        <p:nvSpPr>
          <p:cNvPr id="5" name="TextBox 4">
            <a:extLst>
              <a:ext uri="{FF2B5EF4-FFF2-40B4-BE49-F238E27FC236}">
                <a16:creationId xmlns:a16="http://schemas.microsoft.com/office/drawing/2014/main" id="{F5BB09F7-DF74-C5E3-B3AD-141064E9BB48}"/>
              </a:ext>
            </a:extLst>
          </p:cNvPr>
          <p:cNvSpPr txBox="1"/>
          <p:nvPr/>
        </p:nvSpPr>
        <p:spPr>
          <a:xfrm>
            <a:off x="6096000" y="766732"/>
            <a:ext cx="4971393" cy="5324535"/>
          </a:xfrm>
          <a:prstGeom prst="rect">
            <a:avLst/>
          </a:prstGeom>
          <a:noFill/>
        </p:spPr>
        <p:txBody>
          <a:bodyPr wrap="square">
            <a:spAutoFit/>
          </a:bodyPr>
          <a:lstStyle/>
          <a:p>
            <a:pPr marL="342900" indent="-342900" algn="l">
              <a:buFont typeface="Wingdings" panose="05000000000000000000" pitchFamily="2" charset="2"/>
              <a:buChar char="q"/>
            </a:pPr>
            <a:r>
              <a:rPr lang="en-IN" sz="2000" b="1" i="0" dirty="0">
                <a:solidFill>
                  <a:schemeClr val="tx1">
                    <a:lumMod val="95000"/>
                    <a:lumOff val="5000"/>
                  </a:schemeClr>
                </a:solidFill>
                <a:effectLst/>
                <a:latin typeface="Arial" panose="020B0604020202020204" pitchFamily="34" charset="0"/>
                <a:cs typeface="Arial" panose="020B0604020202020204" pitchFamily="34" charset="0"/>
              </a:rPr>
              <a:t>Insights</a:t>
            </a:r>
            <a:endParaRPr lang="en-IN" sz="1600" b="1" i="0" dirty="0">
              <a:solidFill>
                <a:schemeClr val="tx1">
                  <a:lumMod val="95000"/>
                  <a:lumOff val="5000"/>
                </a:schemeClr>
              </a:solidFill>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endParaRPr lang="en-IN" sz="1600" b="1" dirty="0">
              <a:solidFill>
                <a:schemeClr val="tx1">
                  <a:lumMod val="95000"/>
                  <a:lumOff val="5000"/>
                </a:schemeClr>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Cluster 0</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 the largest group: below-average sessions, duration, and traffic across every app. These are light / occasional users.</a:t>
            </a:r>
          </a:p>
          <a:p>
            <a:pPr marL="28575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Cluster 1</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 moderate, fairly balanced usage across all apps; the "average" subscriber.</a:t>
            </a:r>
          </a:p>
          <a:p>
            <a:pPr marL="28575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Cluster 2</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 — the smallest group but with by far the highest total traffic, session count, and duration, especially on YouTube, Netflix, and Gaming. These are the network's power users / heavy streamers.</a:t>
            </a:r>
          </a:p>
          <a:p>
            <a:pPr marL="285750" indent="-285750" algn="l">
              <a:buFont typeface="Wingdings" panose="05000000000000000000" pitchFamily="2" charset="2"/>
              <a:buChar char="ü"/>
            </a:pPr>
            <a:endParaRPr lang="en-IN" sz="1600" b="0" i="0" dirty="0">
              <a:solidFill>
                <a:schemeClr val="tx1">
                  <a:lumMod val="95000"/>
                  <a:lumOff val="5000"/>
                </a:schemeClr>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ü"/>
            </a:pPr>
            <a:r>
              <a:rPr lang="en-IN" sz="1600" b="1" i="0" dirty="0">
                <a:solidFill>
                  <a:schemeClr val="tx1">
                    <a:lumMod val="95000"/>
                    <a:lumOff val="5000"/>
                  </a:schemeClr>
                </a:solidFill>
                <a:effectLst/>
                <a:latin typeface="Arial" panose="020B0604020202020204" pitchFamily="34" charset="0"/>
                <a:cs typeface="Arial" panose="020B0604020202020204" pitchFamily="34" charset="0"/>
              </a:rPr>
              <a:t>Business takeaway: </a:t>
            </a:r>
            <a:r>
              <a:rPr lang="en-IN" sz="1600" b="0" i="0" dirty="0">
                <a:solidFill>
                  <a:schemeClr val="tx1">
                    <a:lumMod val="95000"/>
                    <a:lumOff val="5000"/>
                  </a:schemeClr>
                </a:solidFill>
                <a:effectLst/>
                <a:latin typeface="Arial" panose="020B0604020202020204" pitchFamily="34" charset="0"/>
                <a:cs typeface="Arial" panose="020B0604020202020204" pitchFamily="34" charset="0"/>
              </a:rPr>
              <a:t>Cluster 2 users generate a disproportionate share of network load and revenue potential — worth targeting with premium data bundles or streaming passes — while Cluster 0 is the biggest re-engagement opportunity.</a:t>
            </a:r>
          </a:p>
        </p:txBody>
      </p:sp>
    </p:spTree>
    <p:extLst>
      <p:ext uri="{BB962C8B-B14F-4D97-AF65-F5344CB8AC3E}">
        <p14:creationId xmlns:p14="http://schemas.microsoft.com/office/powerpoint/2010/main" val="21093198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C4CA44-A9E2-EDEB-3E5E-8C46F0487A2E}"/>
              </a:ext>
            </a:extLst>
          </p:cNvPr>
          <p:cNvPicPr>
            <a:picLocks noChangeAspect="1"/>
          </p:cNvPicPr>
          <p:nvPr/>
        </p:nvPicPr>
        <p:blipFill>
          <a:blip r:embed="rId2"/>
          <a:stretch>
            <a:fillRect/>
          </a:stretch>
        </p:blipFill>
        <p:spPr>
          <a:xfrm>
            <a:off x="472966" y="603195"/>
            <a:ext cx="8912772" cy="5471784"/>
          </a:xfrm>
          <a:prstGeom prst="rect">
            <a:avLst/>
          </a:prstGeom>
        </p:spPr>
      </p:pic>
    </p:spTree>
    <p:extLst>
      <p:ext uri="{BB962C8B-B14F-4D97-AF65-F5344CB8AC3E}">
        <p14:creationId xmlns:p14="http://schemas.microsoft.com/office/powerpoint/2010/main" val="6761919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84914-13A4-E613-54B3-8DD1891DCB52}"/>
              </a:ext>
            </a:extLst>
          </p:cNvPr>
          <p:cNvSpPr txBox="1"/>
          <p:nvPr/>
        </p:nvSpPr>
        <p:spPr>
          <a:xfrm>
            <a:off x="640055" y="357120"/>
            <a:ext cx="9192203" cy="6217087"/>
          </a:xfrm>
          <a:prstGeom prst="rect">
            <a:avLst/>
          </a:prstGeom>
          <a:noFill/>
        </p:spPr>
        <p:txBody>
          <a:bodyPr wrap="square">
            <a:spAutoFit/>
          </a:bodyPr>
          <a:lstStyle/>
          <a:p>
            <a:pPr marL="342900" indent="-342900">
              <a:buFont typeface="Wingdings" panose="05000000000000000000" pitchFamily="2" charset="2"/>
              <a:buChar char="q"/>
            </a:pPr>
            <a:r>
              <a:rPr lang="en-IN" sz="2000" b="1" dirty="0">
                <a:effectLst/>
                <a:latin typeface="Arial" panose="020B0604020202020204" pitchFamily="34" charset="0"/>
                <a:cs typeface="Arial" panose="020B0604020202020204" pitchFamily="34" charset="0"/>
              </a:rPr>
              <a:t>Conclusion</a:t>
            </a:r>
          </a:p>
          <a:p>
            <a:endParaRPr lang="en-IN" b="1" dirty="0">
              <a:latin typeface="Google Sans Text"/>
            </a:endParaRPr>
          </a:p>
          <a:p>
            <a:pPr marL="285750" indent="-285750">
              <a:buFont typeface="Wingdings" panose="05000000000000000000" pitchFamily="2" charset="2"/>
              <a:buChar char="§"/>
            </a:pPr>
            <a:r>
              <a:rPr lang="en-IN" b="1" dirty="0">
                <a:effectLst/>
                <a:latin typeface="Arial" panose="020B0604020202020204" pitchFamily="34" charset="0"/>
                <a:cs typeface="Arial" panose="020B0604020202020204" pitchFamily="34" charset="0"/>
              </a:rPr>
              <a:t>Target Home Routers &amp; iPhones</a:t>
            </a:r>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Fixed-wireless routers (Huawei B528S-23A) drive the highest individual volumes.</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Apple iPhones dominate smartphone traffic.</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Launch "Home Wi-Fi" plans and prioritize iOS network optimization.</a:t>
            </a:r>
          </a:p>
          <a:p>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b="1" dirty="0">
                <a:effectLst/>
                <a:latin typeface="Arial" panose="020B0604020202020204" pitchFamily="34" charset="0"/>
                <a:cs typeface="Arial" panose="020B0604020202020204" pitchFamily="34" charset="0"/>
              </a:rPr>
              <a:t>Monetize Power Users (Cluster 2)</a:t>
            </a:r>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The top 10% of users (Decile D10) consume a massive share of data.</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Heavy traffic is driven mostly by Gaming, YouTube, and Netflix.</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Introduce premium data tiers and bundled streaming passes.</a:t>
            </a:r>
          </a:p>
          <a:p>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b="1" dirty="0">
                <a:effectLst/>
                <a:latin typeface="Arial" panose="020B0604020202020204" pitchFamily="34" charset="0"/>
                <a:cs typeface="Arial" panose="020B0604020202020204" pitchFamily="34" charset="0"/>
              </a:rPr>
              <a:t>Support Micro-Sessions &amp; Heavy Downloads</a:t>
            </a:r>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Traffic consists of millions of rapid, ultra-short sessions.</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Downloads account for 92% of total network traffic.</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Upgrade switchboards for rapid connection requests and high downstream bandwidth.</a:t>
            </a:r>
          </a:p>
          <a:p>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b="1" dirty="0">
                <a:effectLst/>
                <a:latin typeface="Arial" panose="020B0604020202020204" pitchFamily="34" charset="0"/>
                <a:cs typeface="Arial" panose="020B0604020202020204" pitchFamily="34" charset="0"/>
              </a:rPr>
              <a:t>Deploy Validated Model</a:t>
            </a:r>
            <a:endParaRPr lang="en-IN"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Network volume columns contain missing metrics, but core connection data is fully complete. </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The 3-segment clustering model generalizes perfectly to unseen data.</a:t>
            </a:r>
          </a:p>
          <a:p>
            <a:pPr marL="285750" indent="-285750">
              <a:buFont typeface="Wingdings" panose="05000000000000000000" pitchFamily="2" charset="2"/>
              <a:buChar char="ü"/>
            </a:pPr>
            <a:r>
              <a:rPr lang="en-IN" dirty="0">
                <a:effectLst/>
                <a:latin typeface="Arial" panose="020B0604020202020204" pitchFamily="34" charset="0"/>
                <a:cs typeface="Arial" panose="020B0604020202020204" pitchFamily="34" charset="0"/>
              </a:rPr>
              <a:t>Deploy the pipeline to automatically score new users for targeted marketing.</a:t>
            </a:r>
          </a:p>
        </p:txBody>
      </p:sp>
    </p:spTree>
    <p:extLst>
      <p:ext uri="{BB962C8B-B14F-4D97-AF65-F5344CB8AC3E}">
        <p14:creationId xmlns:p14="http://schemas.microsoft.com/office/powerpoint/2010/main" val="12306179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C944DA-0DA4-7D02-CAED-D1B86A291A27}"/>
              </a:ext>
            </a:extLst>
          </p:cNvPr>
          <p:cNvSpPr txBox="1"/>
          <p:nvPr/>
        </p:nvSpPr>
        <p:spPr>
          <a:xfrm>
            <a:off x="3480621" y="2802194"/>
            <a:ext cx="3854244" cy="923330"/>
          </a:xfrm>
          <a:prstGeom prst="rect">
            <a:avLst/>
          </a:prstGeom>
          <a:noFill/>
        </p:spPr>
        <p:txBody>
          <a:bodyPr wrap="square" rtlCol="0">
            <a:spAutoFit/>
          </a:bodyPr>
          <a:lstStyle/>
          <a:p>
            <a:r>
              <a:rPr lang="en-US" sz="5400" b="1" dirty="0">
                <a:solidFill>
                  <a:schemeClr val="accent1">
                    <a:lumMod val="75000"/>
                  </a:schemeClr>
                </a:solidFill>
                <a:latin typeface="Arial" panose="020B0604020202020204" pitchFamily="34" charset="0"/>
                <a:cs typeface="Arial" panose="020B0604020202020204" pitchFamily="34" charset="0"/>
              </a:rPr>
              <a:t>Thank You</a:t>
            </a:r>
            <a:endParaRPr lang="en-IN" sz="5400" b="1"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815930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141</TotalTime>
  <Words>1564</Words>
  <Application>Microsoft Office PowerPoint</Application>
  <PresentationFormat>Widescreen</PresentationFormat>
  <Paragraphs>113</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Google Sans Text</vt:lpstr>
      <vt:lpstr>Trebuchet MS</vt:lpstr>
      <vt:lpstr>Wingdings</vt:lpstr>
      <vt:lpstr>Wingdings 3</vt:lpstr>
      <vt:lpstr>Facet</vt:lpstr>
      <vt:lpstr>Next Hikes IT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Vincy Mehta</dc:creator>
  <cp:lastModifiedBy>Vincy Mehta</cp:lastModifiedBy>
  <cp:revision>6</cp:revision>
  <dcterms:created xsi:type="dcterms:W3CDTF">2026-07-07T09:52:19Z</dcterms:created>
  <dcterms:modified xsi:type="dcterms:W3CDTF">2026-07-08T12:54:23Z</dcterms:modified>
</cp:coreProperties>
</file>